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-422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7315200" cy="27432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28D6BE"/>
                </a:solidFill>
                <a:latin typeface="Aptos"/>
              </a:rPr>
              <a:t>HAPPIEST HEALTH • DIGITAL TWIN CHALLENGE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6858000" cy="73152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l">
              <a:spcAft>
                <a:spcPts val="500"/>
              </a:spcAft>
            </a:pPr>
            <a:r>
              <a:rPr sz="4200" b="1">
                <a:solidFill>
                  <a:srgbClr val="F5F8FC"/>
                </a:solidFill>
                <a:latin typeface="Aptos"/>
              </a:rPr>
              <a:t>TwinPulse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2103120"/>
            <a:ext cx="7223760" cy="96012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l">
              <a:spcAft>
                <a:spcPts val="500"/>
              </a:spcAft>
            </a:pPr>
            <a:r>
              <a:rPr sz="2300" b="1">
                <a:solidFill>
                  <a:srgbClr val="5BC0EB"/>
                </a:solidFill>
                <a:latin typeface="Aptos"/>
              </a:rPr>
              <a:t>A Dynamic Digital Twin for</a:t>
            </a:r>
          </a:p>
          <a:p>
            <a:pPr algn="l">
              <a:spcAft>
                <a:spcPts val="500"/>
              </a:spcAft>
            </a:pPr>
            <a:r>
              <a:rPr sz="2300" b="1">
                <a:solidFill>
                  <a:srgbClr val="5BC0EB"/>
                </a:solidFill>
                <a:latin typeface="Aptos"/>
              </a:rPr>
              <a:t>Cardiovascular Event Risk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383280"/>
            <a:ext cx="6949440" cy="73152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B1C0D3"/>
                </a:solidFill>
                <a:latin typeface="Aptos"/>
              </a:rPr>
              <a:t>A research-oriented proof of concept for hypertensive-patient state tracking and exploratory risk modelling.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617720"/>
            <a:ext cx="7772400" cy="96012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F5F8FC"/>
                </a:solidFill>
                <a:latin typeface="Aptos"/>
              </a:rPr>
              <a:t>TEAM TWINPULSE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F5F8FC"/>
                </a:solidFill>
                <a:latin typeface="Aptos"/>
              </a:rPr>
              <a:t>Almas Banu — Sri Venkateshwara College of Engineering, Bengaluru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F5F8FC"/>
                </a:solidFill>
                <a:latin typeface="Aptos"/>
              </a:rPr>
              <a:t>Ansu Kumar — GITAM Deemed to be University, Bengaluru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053328"/>
            <a:ext cx="7315200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FFB15C"/>
                </a:solidFill>
                <a:latin typeface="Aptos"/>
              </a:rPr>
              <a:t>Research prototype • Not clinically validated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82880"/>
            <a:ext cx="10972800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28D6BE"/>
                </a:solidFill>
                <a:latin typeface="Aptos"/>
              </a:rPr>
              <a:t>01 •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972800" cy="50292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F5F8FC"/>
                </a:solidFill>
                <a:latin typeface="Aptos"/>
              </a:rPr>
              <a:t>A patient's risk is not a static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42415"/>
            <a:ext cx="10972800" cy="38404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B1C0D3"/>
                </a:solidFill>
                <a:latin typeface="Aptos"/>
              </a:rPr>
              <a:t>TwinPulse explores how historical clinical context and changing physiology could be represented together.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92240"/>
            <a:ext cx="11155680" cy="13716"/>
          </a:xfrm>
          <a:prstGeom prst="rect">
            <a:avLst/>
          </a:prstGeom>
          <a:solidFill>
            <a:srgbClr val="324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6528816"/>
            <a:ext cx="10058400" cy="164592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>
                <a:solidFill>
                  <a:srgbClr val="B1C0D3"/>
                </a:solidFill>
                <a:latin typeface="Aptos"/>
              </a:rPr>
              <a:t>TWINPULSE • DIGITAL TWIN CHALLENGE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28816"/>
            <a:ext cx="411480" cy="164592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0">
                <a:solidFill>
                  <a:srgbClr val="B1C0D3"/>
                </a:solidFill>
                <a:latin typeface="Aptos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737360"/>
            <a:ext cx="3520440" cy="1828800"/>
          </a:xfrm>
          <a:prstGeom prst="roundRect">
            <a:avLst/>
          </a:prstGeom>
          <a:solidFill>
            <a:srgbClr val="192C48"/>
          </a:solidFill>
          <a:ln>
            <a:solidFill>
              <a:srgbClr val="304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1847088"/>
            <a:ext cx="45720" cy="1609344"/>
          </a:xfrm>
          <a:prstGeom prst="rect">
            <a:avLst/>
          </a:prstGeom>
          <a:solidFill>
            <a:srgbClr val="5BC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" y="1865376"/>
            <a:ext cx="3246120" cy="29260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5BC0EB"/>
                </a:solidFill>
                <a:latin typeface="Aptos"/>
              </a:rPr>
              <a:t>STATIC 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240280"/>
            <a:ext cx="3227832" cy="1261872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F5F8FC"/>
                </a:solidFill>
                <a:latin typeface="Aptos"/>
              </a:rPr>
              <a:t>Clinical history and measurements provide baseline context but may not capture every physiological change.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737360"/>
            <a:ext cx="3520440" cy="1828800"/>
          </a:xfrm>
          <a:prstGeom prst="roundRect">
            <a:avLst/>
          </a:prstGeom>
          <a:solidFill>
            <a:srgbClr val="192C48"/>
          </a:solidFill>
          <a:ln>
            <a:solidFill>
              <a:srgbClr val="304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43400" y="1847088"/>
            <a:ext cx="45720" cy="1609344"/>
          </a:xfrm>
          <a:prstGeom prst="rect">
            <a:avLst/>
          </a:prstGeom>
          <a:solidFill>
            <a:srgbClr val="28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07992" y="1865376"/>
            <a:ext cx="3246120" cy="29260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28D6BE"/>
                </a:solidFill>
                <a:latin typeface="Aptos"/>
              </a:rPr>
              <a:t>DYNAMIC 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2240280"/>
            <a:ext cx="3227832" cy="1261872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F5F8FC"/>
                </a:solidFill>
                <a:latin typeface="Aptos"/>
              </a:rPr>
              <a:t>ECG-derived RR intervals and HRV describe cardiac rhythm variability when signal quality is adequate.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737360"/>
            <a:ext cx="3520440" cy="1828800"/>
          </a:xfrm>
          <a:prstGeom prst="roundRect">
            <a:avLst/>
          </a:prstGeom>
          <a:solidFill>
            <a:srgbClr val="192C48"/>
          </a:solidFill>
          <a:ln>
            <a:solidFill>
              <a:srgbClr val="304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92440" y="1847088"/>
            <a:ext cx="45720" cy="1609344"/>
          </a:xfrm>
          <a:prstGeom prst="rect">
            <a:avLst/>
          </a:prstGeom>
          <a:solidFill>
            <a:srgbClr val="FFB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57031" y="1865376"/>
            <a:ext cx="3246120" cy="29260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FFB15C"/>
                </a:solidFill>
                <a:latin typeface="Aptos"/>
              </a:rPr>
              <a:t>DECISION SUPPORT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1" y="2240280"/>
            <a:ext cx="3227832" cy="1261872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F5F8FC"/>
                </a:solidFill>
                <a:latin typeface="Aptos"/>
              </a:rPr>
              <a:t>A Digital Twin can organize patient state, derived features and experimental model output in a doctor-facing view.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069080"/>
            <a:ext cx="10789920" cy="100584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F5F8FC"/>
                </a:solidFill>
                <a:latin typeface="Aptos"/>
              </a:rPr>
              <a:t>Project question</a:t>
            </a:r>
          </a:p>
          <a:p>
            <a:pPr algn="l">
              <a:spcAft>
                <a:spcPts val="500"/>
              </a:spcAft>
            </a:pPr>
            <a:r>
              <a:rPr sz="1700" b="1">
                <a:solidFill>
                  <a:srgbClr val="F5F8FC"/>
                </a:solidFill>
                <a:latin typeface="Aptos"/>
              </a:rPr>
              <a:t>Can a software-based patient representation combine historical clinical data with physiological observations to support research into cardiovascular/cerebrovascular event risk?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82880"/>
            <a:ext cx="10972800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28D6BE"/>
                </a:solidFill>
                <a:latin typeface="Aptos"/>
              </a:rPr>
              <a:t>02 • 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972800" cy="50292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F5F8FC"/>
                </a:solidFill>
                <a:latin typeface="Aptos"/>
              </a:rPr>
              <a:t>TwinPulse: a patient-state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42415"/>
            <a:ext cx="10972800" cy="38404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B1C0D3"/>
                </a:solidFill>
                <a:latin typeface="Aptos"/>
              </a:rPr>
              <a:t>The Digital Twin state engine and ML predictor are separate components.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92240"/>
            <a:ext cx="11155680" cy="13716"/>
          </a:xfrm>
          <a:prstGeom prst="rect">
            <a:avLst/>
          </a:prstGeom>
          <a:solidFill>
            <a:srgbClr val="324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6528816"/>
            <a:ext cx="10058400" cy="164592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>
                <a:solidFill>
                  <a:srgbClr val="B1C0D3"/>
                </a:solidFill>
                <a:latin typeface="Aptos"/>
              </a:rPr>
              <a:t>TWINPULSE • DIGITAL TWIN CHALLENGE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28816"/>
            <a:ext cx="411480" cy="164592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0">
                <a:solidFill>
                  <a:srgbClr val="B1C0D3"/>
                </a:solidFill>
                <a:latin typeface="Aptos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57400"/>
            <a:ext cx="1828800" cy="1417320"/>
          </a:xfrm>
          <a:prstGeom prst="roundRect">
            <a:avLst/>
          </a:prstGeom>
          <a:solidFill>
            <a:srgbClr val="192C48"/>
          </a:solidFill>
          <a:ln>
            <a:solidFill>
              <a:srgbClr val="5BC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1737360" cy="27432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5BC0EB"/>
                </a:solidFill>
                <a:latin typeface="Aptos"/>
              </a:rPr>
              <a:t>Historical</a:t>
            </a:r>
          </a:p>
          <a:p>
            <a:pPr algn="ctr">
              <a:spcAft>
                <a:spcPts val="500"/>
              </a:spcAft>
            </a:pPr>
            <a:r>
              <a:rPr sz="1100" b="1">
                <a:solidFill>
                  <a:srgbClr val="5BC0EB"/>
                </a:solidFill>
                <a:latin typeface="Aptos"/>
              </a:rPr>
              <a:t>clinical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2404872"/>
            <a:ext cx="1682496" cy="617605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ctr">
              <a:spcAft>
                <a:spcPts val="500"/>
              </a:spcAft>
            </a:pPr>
            <a:endParaRPr lang="en-IN" sz="900" b="0" dirty="0" smtClean="0">
              <a:solidFill>
                <a:srgbClr val="F5F8FC"/>
              </a:solidFill>
              <a:latin typeface="Aptos"/>
            </a:endParaRPr>
          </a:p>
          <a:p>
            <a:pPr algn="ctr">
              <a:spcAft>
                <a:spcPts val="500"/>
              </a:spcAft>
            </a:pPr>
            <a:endParaRPr lang="en-IN" sz="900" dirty="0" smtClean="0">
              <a:solidFill>
                <a:srgbClr val="F5F8FC"/>
              </a:solidFill>
              <a:latin typeface="Aptos"/>
            </a:endParaRPr>
          </a:p>
          <a:p>
            <a:pPr algn="ctr">
              <a:spcAft>
                <a:spcPts val="500"/>
              </a:spcAft>
            </a:pPr>
            <a:r>
              <a:rPr sz="900" b="0" dirty="0" smtClean="0">
                <a:solidFill>
                  <a:srgbClr val="F5F8FC"/>
                </a:solidFill>
                <a:latin typeface="Aptos"/>
              </a:rPr>
              <a:t>Demographics  </a:t>
            </a:r>
            <a:r>
              <a:rPr sz="900" b="0" dirty="0">
                <a:solidFill>
                  <a:srgbClr val="F5F8FC"/>
                </a:solidFill>
                <a:latin typeface="Aptos"/>
              </a:rPr>
              <a:t>BP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2057400"/>
            <a:ext cx="1828800" cy="1417320"/>
          </a:xfrm>
          <a:prstGeom prst="roundRect">
            <a:avLst/>
          </a:prstGeom>
          <a:solidFill>
            <a:srgbClr val="192C48"/>
          </a:solidFill>
          <a:ln>
            <a:solidFill>
              <a:srgbClr val="28D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88920" y="2103120"/>
            <a:ext cx="1737360" cy="27432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28D6BE"/>
                </a:solidFill>
                <a:latin typeface="Aptos"/>
              </a:rPr>
              <a:t>Physiological</a:t>
            </a:r>
          </a:p>
          <a:p>
            <a:pPr algn="ctr">
              <a:spcAft>
                <a:spcPts val="500"/>
              </a:spcAft>
            </a:pPr>
            <a:r>
              <a:rPr sz="1100" b="1">
                <a:solidFill>
                  <a:srgbClr val="28D6BE"/>
                </a:solidFill>
                <a:latin typeface="Aptos"/>
              </a:rPr>
              <a:t>observations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16352" y="2404872"/>
            <a:ext cx="1682496" cy="617605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ctr">
              <a:spcAft>
                <a:spcPts val="500"/>
              </a:spcAft>
            </a:pPr>
            <a:endParaRPr lang="en-IN" sz="900" b="0" dirty="0" smtClean="0">
              <a:solidFill>
                <a:srgbClr val="F5F8FC"/>
              </a:solidFill>
              <a:latin typeface="Aptos"/>
            </a:endParaRPr>
          </a:p>
          <a:p>
            <a:pPr algn="ctr">
              <a:spcAft>
                <a:spcPts val="500"/>
              </a:spcAft>
            </a:pPr>
            <a:endParaRPr lang="en-IN" sz="900" dirty="0" smtClean="0">
              <a:solidFill>
                <a:srgbClr val="F5F8FC"/>
              </a:solidFill>
              <a:latin typeface="Aptos"/>
            </a:endParaRPr>
          </a:p>
          <a:p>
            <a:pPr algn="ctr">
              <a:spcAft>
                <a:spcPts val="500"/>
              </a:spcAft>
            </a:pPr>
            <a:r>
              <a:rPr sz="900" b="0" dirty="0" smtClean="0">
                <a:solidFill>
                  <a:srgbClr val="F5F8FC"/>
                </a:solidFill>
                <a:latin typeface="Aptos"/>
              </a:rPr>
              <a:t>ECG </a:t>
            </a:r>
            <a:r>
              <a:rPr sz="900" b="0" dirty="0">
                <a:solidFill>
                  <a:srgbClr val="F5F8FC"/>
                </a:solidFill>
                <a:latin typeface="Aptos"/>
              </a:rPr>
              <a:t>/ RR / HRV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83480" y="2057400"/>
            <a:ext cx="1828800" cy="1417320"/>
          </a:xfrm>
          <a:prstGeom prst="roundRect">
            <a:avLst/>
          </a:prstGeom>
          <a:solidFill>
            <a:srgbClr val="192C48"/>
          </a:solidFill>
          <a:ln>
            <a:solidFill>
              <a:srgbClr val="FFB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0" y="2103120"/>
            <a:ext cx="1737360" cy="27432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B15C"/>
                </a:solidFill>
                <a:latin typeface="Aptos"/>
              </a:rPr>
              <a:t>Processing &amp;</a:t>
            </a:r>
          </a:p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B15C"/>
                </a:solidFill>
                <a:latin typeface="Aptos"/>
              </a:rPr>
              <a:t>features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56632" y="2404872"/>
            <a:ext cx="1682496" cy="617605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ctr">
              <a:spcAft>
                <a:spcPts val="500"/>
              </a:spcAft>
            </a:pPr>
            <a:endParaRPr lang="en-IN" sz="900" b="0" dirty="0" smtClean="0">
              <a:solidFill>
                <a:srgbClr val="F5F8FC"/>
              </a:solidFill>
              <a:latin typeface="Aptos"/>
            </a:endParaRPr>
          </a:p>
          <a:p>
            <a:pPr algn="ctr">
              <a:spcAft>
                <a:spcPts val="500"/>
              </a:spcAft>
            </a:pPr>
            <a:endParaRPr lang="en-IN" sz="900" dirty="0" smtClean="0">
              <a:solidFill>
                <a:srgbClr val="F5F8FC"/>
              </a:solidFill>
              <a:latin typeface="Aptos"/>
            </a:endParaRPr>
          </a:p>
          <a:p>
            <a:pPr algn="ctr">
              <a:spcAft>
                <a:spcPts val="500"/>
              </a:spcAft>
            </a:pPr>
            <a:r>
              <a:rPr sz="900" b="0" dirty="0" smtClean="0">
                <a:solidFill>
                  <a:srgbClr val="F5F8FC"/>
                </a:solidFill>
                <a:latin typeface="Aptos"/>
              </a:rPr>
              <a:t>Quality </a:t>
            </a:r>
            <a:r>
              <a:rPr sz="900" b="0" dirty="0">
                <a:solidFill>
                  <a:srgbClr val="F5F8FC"/>
                </a:solidFill>
                <a:latin typeface="Aptos"/>
              </a:rPr>
              <a:t>• extraction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2057400"/>
            <a:ext cx="1828800" cy="1417320"/>
          </a:xfrm>
          <a:prstGeom prst="roundRect">
            <a:avLst/>
          </a:prstGeom>
          <a:solidFill>
            <a:srgbClr val="192C48"/>
          </a:solidFill>
          <a:ln>
            <a:solidFill>
              <a:srgbClr val="5BC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69480" y="2103120"/>
            <a:ext cx="1737360" cy="27432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5BC0EB"/>
                </a:solidFill>
                <a:latin typeface="Aptos"/>
              </a:rPr>
              <a:t>Digital Twin</a:t>
            </a:r>
          </a:p>
          <a:p>
            <a:pPr algn="ctr">
              <a:spcAft>
                <a:spcPts val="500"/>
              </a:spcAft>
            </a:pPr>
            <a:r>
              <a:rPr sz="1100" b="1">
                <a:solidFill>
                  <a:srgbClr val="5BC0EB"/>
                </a:solidFill>
                <a:latin typeface="Aptos"/>
              </a:rPr>
              <a:t>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96912" y="2404872"/>
            <a:ext cx="1682496" cy="617605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ctr">
              <a:spcAft>
                <a:spcPts val="500"/>
              </a:spcAft>
            </a:pPr>
            <a:endParaRPr lang="en-IN" sz="900" b="0" dirty="0" smtClean="0">
              <a:solidFill>
                <a:srgbClr val="F5F8FC"/>
              </a:solidFill>
              <a:latin typeface="Aptos"/>
            </a:endParaRPr>
          </a:p>
          <a:p>
            <a:pPr algn="ctr">
              <a:spcAft>
                <a:spcPts val="500"/>
              </a:spcAft>
            </a:pPr>
            <a:endParaRPr lang="en-IN" sz="900" dirty="0" smtClean="0">
              <a:solidFill>
                <a:srgbClr val="F5F8FC"/>
              </a:solidFill>
              <a:latin typeface="Aptos"/>
            </a:endParaRPr>
          </a:p>
          <a:p>
            <a:pPr algn="ctr">
              <a:spcAft>
                <a:spcPts val="500"/>
              </a:spcAft>
            </a:pPr>
            <a:r>
              <a:rPr sz="900" b="0" dirty="0" smtClean="0">
                <a:solidFill>
                  <a:srgbClr val="F5F8FC"/>
                </a:solidFill>
                <a:latin typeface="Aptos"/>
              </a:rPr>
              <a:t>Patient </a:t>
            </a:r>
            <a:r>
              <a:rPr sz="900" b="0" dirty="0">
                <a:solidFill>
                  <a:srgbClr val="F5F8FC"/>
                </a:solidFill>
                <a:latin typeface="Aptos"/>
              </a:rPr>
              <a:t>context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64040" y="2057400"/>
            <a:ext cx="1828800" cy="1417320"/>
          </a:xfrm>
          <a:prstGeom prst="roundRect">
            <a:avLst/>
          </a:prstGeom>
          <a:solidFill>
            <a:srgbClr val="192C48"/>
          </a:solidFill>
          <a:ln>
            <a:solidFill>
              <a:srgbClr val="28D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509760" y="2103120"/>
            <a:ext cx="1737360" cy="27432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28D6BE"/>
                </a:solidFill>
                <a:latin typeface="Aptos"/>
              </a:rPr>
              <a:t>Dashboard &amp;</a:t>
            </a:r>
          </a:p>
          <a:p>
            <a:pPr algn="ctr">
              <a:spcAft>
                <a:spcPts val="500"/>
              </a:spcAft>
            </a:pPr>
            <a:r>
              <a:rPr sz="1100" b="1">
                <a:solidFill>
                  <a:srgbClr val="28D6BE"/>
                </a:solidFill>
                <a:latin typeface="Aptos"/>
              </a:rPr>
              <a:t>model 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37192" y="2404872"/>
            <a:ext cx="1682496" cy="617605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ctr">
              <a:spcAft>
                <a:spcPts val="500"/>
              </a:spcAft>
            </a:pPr>
            <a:endParaRPr lang="en-IN" sz="900" b="0" dirty="0" smtClean="0">
              <a:solidFill>
                <a:srgbClr val="F5F8FC"/>
              </a:solidFill>
              <a:latin typeface="Aptos"/>
            </a:endParaRPr>
          </a:p>
          <a:p>
            <a:pPr algn="ctr">
              <a:spcAft>
                <a:spcPts val="500"/>
              </a:spcAft>
            </a:pPr>
            <a:endParaRPr lang="en-IN" sz="900" dirty="0" smtClean="0">
              <a:solidFill>
                <a:srgbClr val="F5F8FC"/>
              </a:solidFill>
              <a:latin typeface="Aptos"/>
            </a:endParaRPr>
          </a:p>
          <a:p>
            <a:pPr algn="ctr">
              <a:spcAft>
                <a:spcPts val="500"/>
              </a:spcAft>
            </a:pPr>
            <a:r>
              <a:rPr sz="900" b="0" dirty="0" smtClean="0">
                <a:solidFill>
                  <a:srgbClr val="F5F8FC"/>
                </a:solidFill>
                <a:latin typeface="Aptos"/>
              </a:rPr>
              <a:t>State </a:t>
            </a:r>
            <a:r>
              <a:rPr sz="900" b="0" dirty="0">
                <a:solidFill>
                  <a:srgbClr val="F5F8FC"/>
                </a:solidFill>
                <a:latin typeface="Aptos"/>
              </a:rPr>
              <a:t>• score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59152" y="2487168"/>
            <a:ext cx="320040" cy="36576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ctr">
              <a:spcAft>
                <a:spcPts val="500"/>
              </a:spcAft>
            </a:pPr>
            <a:r>
              <a:rPr sz="2100" b="1">
                <a:solidFill>
                  <a:srgbClr val="28D6BE"/>
                </a:solidFill>
                <a:latin typeface="Aptos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9432" y="2487168"/>
            <a:ext cx="320040" cy="36576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ctr">
              <a:spcAft>
                <a:spcPts val="500"/>
              </a:spcAft>
            </a:pPr>
            <a:r>
              <a:rPr sz="2100" b="1">
                <a:solidFill>
                  <a:srgbClr val="28D6BE"/>
                </a:solidFill>
                <a:latin typeface="Aptos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39712" y="2487168"/>
            <a:ext cx="320040" cy="36576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ctr">
              <a:spcAft>
                <a:spcPts val="500"/>
              </a:spcAft>
            </a:pPr>
            <a:r>
              <a:rPr sz="2100" b="1">
                <a:solidFill>
                  <a:srgbClr val="28D6BE"/>
                </a:solidFill>
                <a:latin typeface="Aptos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79992" y="2487168"/>
            <a:ext cx="320040" cy="36576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ctr">
              <a:spcAft>
                <a:spcPts val="500"/>
              </a:spcAft>
            </a:pPr>
            <a:r>
              <a:rPr sz="2100" b="1">
                <a:solidFill>
                  <a:srgbClr val="28D6BE"/>
                </a:solidFill>
                <a:latin typeface="Aptos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3977639"/>
            <a:ext cx="10881360" cy="100584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FFB15C"/>
                </a:solidFill>
                <a:latin typeface="Aptos"/>
              </a:rPr>
              <a:t>Implementation status: simulated physiological updates change the Digital Twin state, but do not currently alter the ML prediction. Full physiological-to-prediction fusion remains future work.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82880"/>
            <a:ext cx="10972800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28D6BE"/>
                </a:solidFill>
                <a:latin typeface="Aptos"/>
              </a:rPr>
              <a:t>03 • DIGITAL TWIN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972800" cy="50292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F5F8FC"/>
                </a:solidFill>
                <a:latin typeface="Aptos"/>
              </a:rPr>
              <a:t>What the virtual patient represents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42415"/>
            <a:ext cx="10972800" cy="38404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B1C0D3"/>
                </a:solidFill>
                <a:latin typeface="Aptos"/>
              </a:rPr>
              <a:t>A maintained software state—not a physical replica or a medical device.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92240"/>
            <a:ext cx="11155680" cy="13716"/>
          </a:xfrm>
          <a:prstGeom prst="rect">
            <a:avLst/>
          </a:prstGeom>
          <a:solidFill>
            <a:srgbClr val="324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6528816"/>
            <a:ext cx="10058400" cy="164592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>
                <a:solidFill>
                  <a:srgbClr val="B1C0D3"/>
                </a:solidFill>
                <a:latin typeface="Aptos"/>
              </a:rPr>
              <a:t>TWINPULSE • DIGITAL TWIN CHALLENGE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28816"/>
            <a:ext cx="411480" cy="164592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0">
                <a:solidFill>
                  <a:srgbClr val="B1C0D3"/>
                </a:solidFill>
                <a:latin typeface="Aptos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3429000" cy="2057400"/>
          </a:xfrm>
          <a:prstGeom prst="roundRect">
            <a:avLst/>
          </a:prstGeom>
          <a:solidFill>
            <a:srgbClr val="192C48"/>
          </a:solidFill>
          <a:ln>
            <a:solidFill>
              <a:srgbClr val="304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847088"/>
            <a:ext cx="45720" cy="1837943"/>
          </a:xfrm>
          <a:prstGeom prst="rect">
            <a:avLst/>
          </a:prstGeom>
          <a:solidFill>
            <a:srgbClr val="5BC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1" y="1865376"/>
            <a:ext cx="3154680" cy="29260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5BC0EB"/>
                </a:solidFill>
                <a:latin typeface="Aptos"/>
              </a:rPr>
              <a:t>HISTORICAL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2240280"/>
            <a:ext cx="3136392" cy="1490472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F5F8FC"/>
                </a:solidFill>
                <a:latin typeface="Aptos"/>
              </a:rPr>
              <a:t>Demographics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F5F8FC"/>
                </a:solidFill>
                <a:latin typeface="Aptos"/>
              </a:rPr>
              <a:t>Blood pressure and clinical measurements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F5F8FC"/>
                </a:solidFill>
                <a:latin typeface="Aptos"/>
              </a:rPr>
              <a:t>Baseline context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737360"/>
            <a:ext cx="3429000" cy="2057400"/>
          </a:xfrm>
          <a:prstGeom prst="roundRect">
            <a:avLst/>
          </a:prstGeom>
          <a:solidFill>
            <a:srgbClr val="192C48"/>
          </a:solidFill>
          <a:ln>
            <a:solidFill>
              <a:srgbClr val="304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1847088"/>
            <a:ext cx="45720" cy="1837943"/>
          </a:xfrm>
          <a:prstGeom prst="rect">
            <a:avLst/>
          </a:prstGeom>
          <a:solidFill>
            <a:srgbClr val="28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53712" y="1865376"/>
            <a:ext cx="3154680" cy="29260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28D6BE"/>
                </a:solidFill>
                <a:latin typeface="Aptos"/>
              </a:rPr>
              <a:t>OBSERVED STATE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240280"/>
            <a:ext cx="3136392" cy="1490472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F5F8FC"/>
                </a:solidFill>
                <a:latin typeface="Aptos"/>
              </a:rPr>
              <a:t>Physiological observation concept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F5F8FC"/>
                </a:solidFill>
                <a:latin typeface="Aptos"/>
              </a:rPr>
              <a:t>RR/HRV summary when available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F5F8FC"/>
                </a:solidFill>
                <a:latin typeface="Aptos"/>
              </a:rPr>
              <a:t>Recent state changes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737360"/>
            <a:ext cx="3429000" cy="2057400"/>
          </a:xfrm>
          <a:prstGeom prst="roundRect">
            <a:avLst/>
          </a:prstGeom>
          <a:solidFill>
            <a:srgbClr val="192C48"/>
          </a:solidFill>
          <a:ln>
            <a:solidFill>
              <a:srgbClr val="304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38160" y="1847088"/>
            <a:ext cx="45720" cy="1837943"/>
          </a:xfrm>
          <a:prstGeom prst="rect">
            <a:avLst/>
          </a:prstGeom>
          <a:solidFill>
            <a:srgbClr val="FFB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02752" y="1865376"/>
            <a:ext cx="3154680" cy="29260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FFB15C"/>
                </a:solidFill>
                <a:latin typeface="Aptos"/>
              </a:rPr>
              <a:t>RISK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2240280"/>
            <a:ext cx="3136392" cy="1490472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F5F8FC"/>
                </a:solidFill>
                <a:latin typeface="Aptos"/>
              </a:rPr>
              <a:t>Exploratory model output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F5F8FC"/>
                </a:solidFill>
                <a:latin typeface="Aptos"/>
              </a:rPr>
              <a:t>Input context and model version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F5F8FC"/>
                </a:solidFill>
                <a:latin typeface="Aptos"/>
              </a:rPr>
              <a:t>Visible uncertainty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389120"/>
            <a:ext cx="10515600" cy="6858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F5F8FC"/>
                </a:solidFill>
                <a:latin typeface="Aptos"/>
              </a:rPr>
              <a:t>Design principle: keep the twin state, signal processing and ML model separate so each can be tested independently.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82880"/>
            <a:ext cx="10972800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28D6BE"/>
                </a:solidFill>
                <a:latin typeface="Aptos"/>
              </a:rPr>
              <a:t>04 •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972800" cy="50292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F5F8FC"/>
                </a:solidFill>
                <a:latin typeface="Aptos"/>
              </a:rPr>
              <a:t>SHAREE: useful but constrained research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42415"/>
            <a:ext cx="10972800" cy="38404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B1C0D3"/>
                </a:solidFill>
                <a:latin typeface="Aptos"/>
              </a:rPr>
              <a:t>Dataset coverage and signal quality limit what can responsibly be concluded.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92240"/>
            <a:ext cx="11155680" cy="13716"/>
          </a:xfrm>
          <a:prstGeom prst="rect">
            <a:avLst/>
          </a:prstGeom>
          <a:solidFill>
            <a:srgbClr val="324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6528816"/>
            <a:ext cx="10058400" cy="164592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>
                <a:solidFill>
                  <a:srgbClr val="B1C0D3"/>
                </a:solidFill>
                <a:latin typeface="Aptos"/>
              </a:rPr>
              <a:t>TWINPULSE • DIGITAL TWIN CHALLENGE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28816"/>
            <a:ext cx="411480" cy="164592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0">
                <a:solidFill>
                  <a:srgbClr val="B1C0D3"/>
                </a:solidFill>
                <a:latin typeface="Aptos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3429000" cy="1828800"/>
          </a:xfrm>
          <a:prstGeom prst="roundRect">
            <a:avLst/>
          </a:prstGeom>
          <a:solidFill>
            <a:srgbClr val="192C48"/>
          </a:solidFill>
          <a:ln>
            <a:solidFill>
              <a:srgbClr val="304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801368"/>
            <a:ext cx="45720" cy="1609344"/>
          </a:xfrm>
          <a:prstGeom prst="rect">
            <a:avLst/>
          </a:prstGeom>
          <a:solidFill>
            <a:srgbClr val="5BC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1" y="1819656"/>
            <a:ext cx="3154680" cy="29260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5BC0EB"/>
                </a:solidFill>
                <a:latin typeface="Aptos"/>
              </a:rPr>
              <a:t>COHORT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2194560"/>
            <a:ext cx="3136392" cy="1261872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F5F8FC"/>
                </a:solidFill>
                <a:latin typeface="Aptos"/>
              </a:rPr>
              <a:t>139 hypertensive patients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F5F8FC"/>
                </a:solidFill>
                <a:latin typeface="Aptos"/>
              </a:rPr>
              <a:t>17 recorded vascular-event labels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F5F8FC"/>
                </a:solidFill>
                <a:latin typeface="Aptos"/>
              </a:rPr>
              <a:t>122 without a recorded event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691640"/>
            <a:ext cx="3429000" cy="1828800"/>
          </a:xfrm>
          <a:prstGeom prst="roundRect">
            <a:avLst/>
          </a:prstGeom>
          <a:solidFill>
            <a:srgbClr val="192C48"/>
          </a:solidFill>
          <a:ln>
            <a:solidFill>
              <a:srgbClr val="304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1801368"/>
            <a:ext cx="45720" cy="1609344"/>
          </a:xfrm>
          <a:prstGeom prst="rect">
            <a:avLst/>
          </a:prstGeom>
          <a:solidFill>
            <a:srgbClr val="28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53712" y="1819656"/>
            <a:ext cx="3154680" cy="29260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28D6BE"/>
                </a:solidFill>
                <a:latin typeface="Aptos"/>
              </a:rPr>
              <a:t>PHYSIOLOGY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194560"/>
            <a:ext cx="3136392" cy="1261872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F5F8FC"/>
                </a:solidFill>
                <a:latin typeface="Aptos"/>
              </a:rPr>
              <a:t>Approx. 24-hour, 3-channel ECG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F5F8FC"/>
                </a:solidFill>
                <a:latin typeface="Aptos"/>
              </a:rPr>
              <a:t>128 Hz sampling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F5F8FC"/>
                </a:solidFill>
                <a:latin typeface="Aptos"/>
              </a:rPr>
              <a:t>Automated QRS annotations are unaudited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691640"/>
            <a:ext cx="3429000" cy="1828800"/>
          </a:xfrm>
          <a:prstGeom prst="roundRect">
            <a:avLst/>
          </a:prstGeom>
          <a:solidFill>
            <a:srgbClr val="192C48"/>
          </a:solidFill>
          <a:ln>
            <a:solidFill>
              <a:srgbClr val="304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38160" y="1801368"/>
            <a:ext cx="45720" cy="1609344"/>
          </a:xfrm>
          <a:prstGeom prst="rect">
            <a:avLst/>
          </a:prstGeom>
          <a:solidFill>
            <a:srgbClr val="FFB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02752" y="1819656"/>
            <a:ext cx="3154680" cy="29260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FFB15C"/>
                </a:solidFill>
                <a:latin typeface="Aptos"/>
              </a:rPr>
              <a:t>LOCAL AVAILABILITY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2194560"/>
            <a:ext cx="3136392" cy="1261872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F5F8FC"/>
                </a:solidFill>
                <a:latin typeface="Aptos"/>
              </a:rPr>
              <a:t>25 ECG signal files (.dat) in current local subset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F5F8FC"/>
                </a:solidFill>
                <a:latin typeface="Aptos"/>
              </a:rPr>
              <a:t>Signal coverage is incomplete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977639"/>
            <a:ext cx="10881360" cy="109728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F5F8FC"/>
                </a:solidFill>
                <a:latin typeface="Aptos"/>
              </a:rPr>
              <a:t>Quality caveat</a:t>
            </a:r>
          </a:p>
          <a:p>
            <a:pPr algn="l">
              <a:spcAft>
                <a:spcPts val="500"/>
              </a:spcAft>
            </a:pPr>
            <a:r>
              <a:rPr sz="1500" b="1">
                <a:solidFill>
                  <a:srgbClr val="F5F8FC"/>
                </a:solidFill>
                <a:latin typeface="Aptos"/>
              </a:rPr>
              <a:t>The signal subset is small and labels are imbalanced. Automated annotations and suspicious RR intervals require review; this affects HRV reliability and generalization.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82880"/>
            <a:ext cx="10972800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28D6BE"/>
                </a:solidFill>
                <a:latin typeface="Aptos"/>
              </a:rPr>
              <a:t>05 •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972800" cy="50292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F5F8FC"/>
                </a:solidFill>
                <a:latin typeface="Aptos"/>
              </a:rPr>
              <a:t>How the components fit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42415"/>
            <a:ext cx="10972800" cy="38404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B1C0D3"/>
                </a:solidFill>
                <a:latin typeface="Aptos"/>
              </a:rPr>
              <a:t>Conceptual architecture of the current prototype and intended extension.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92240"/>
            <a:ext cx="11155680" cy="13716"/>
          </a:xfrm>
          <a:prstGeom prst="rect">
            <a:avLst/>
          </a:prstGeom>
          <a:solidFill>
            <a:srgbClr val="324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6528816"/>
            <a:ext cx="10058400" cy="164592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>
                <a:solidFill>
                  <a:srgbClr val="B1C0D3"/>
                </a:solidFill>
                <a:latin typeface="Aptos"/>
              </a:rPr>
              <a:t>TWINPULSE • DIGITAL TWIN CHALLENGE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28816"/>
            <a:ext cx="411480" cy="164592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0">
                <a:solidFill>
                  <a:srgbClr val="B1C0D3"/>
                </a:solidFill>
                <a:latin typeface="Aptos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2240280" cy="914400"/>
          </a:xfrm>
          <a:prstGeom prst="roundRect">
            <a:avLst/>
          </a:prstGeom>
          <a:solidFill>
            <a:srgbClr val="192C48"/>
          </a:solidFill>
          <a:ln>
            <a:solidFill>
              <a:srgbClr val="5BC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783080"/>
            <a:ext cx="2148840" cy="27432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5BC0EB"/>
                </a:solidFill>
                <a:latin typeface="Aptos"/>
              </a:rPr>
              <a:t>Clinical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1" y="2084831"/>
            <a:ext cx="2093976" cy="54864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ctr">
              <a:spcAft>
                <a:spcPts val="500"/>
              </a:spcAft>
            </a:pPr>
            <a:r>
              <a:rPr sz="900" b="0">
                <a:solidFill>
                  <a:srgbClr val="F5F8FC"/>
                </a:solidFill>
                <a:latin typeface="Aptos"/>
              </a:rPr>
              <a:t>Patient-level features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154680"/>
            <a:ext cx="2240280" cy="914400"/>
          </a:xfrm>
          <a:prstGeom prst="roundRect">
            <a:avLst/>
          </a:prstGeom>
          <a:solidFill>
            <a:srgbClr val="192C48"/>
          </a:solidFill>
          <a:ln>
            <a:solidFill>
              <a:srgbClr val="28D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3200400"/>
            <a:ext cx="2148840" cy="27432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28D6BE"/>
                </a:solidFill>
                <a:latin typeface="Aptos"/>
              </a:rPr>
              <a:t>ECG subset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1" y="3502152"/>
            <a:ext cx="2093976" cy="54864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ctr">
              <a:spcAft>
                <a:spcPts val="500"/>
              </a:spcAft>
            </a:pPr>
            <a:r>
              <a:rPr sz="900" b="0">
                <a:solidFill>
                  <a:srgbClr val="F5F8FC"/>
                </a:solidFill>
                <a:latin typeface="Aptos"/>
              </a:rPr>
              <a:t>RR / HRV pipeline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1737360"/>
            <a:ext cx="2286000" cy="914400"/>
          </a:xfrm>
          <a:prstGeom prst="roundRect">
            <a:avLst/>
          </a:prstGeom>
          <a:solidFill>
            <a:srgbClr val="192C48"/>
          </a:solidFill>
          <a:ln>
            <a:solidFill>
              <a:srgbClr val="FFB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74720" y="1783080"/>
            <a:ext cx="2194560" cy="27432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B15C"/>
                </a:solidFill>
                <a:latin typeface="Aptos"/>
              </a:rPr>
              <a:t>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2152" y="2084831"/>
            <a:ext cx="2139696" cy="54864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ctr">
              <a:spcAft>
                <a:spcPts val="500"/>
              </a:spcAft>
            </a:pPr>
            <a:r>
              <a:rPr sz="900" b="0">
                <a:solidFill>
                  <a:srgbClr val="F5F8FC"/>
                </a:solidFill>
                <a:latin typeface="Aptos"/>
              </a:rPr>
              <a:t>Patient-level splits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29000" y="3154680"/>
            <a:ext cx="2286000" cy="914400"/>
          </a:xfrm>
          <a:prstGeom prst="roundRect">
            <a:avLst/>
          </a:prstGeom>
          <a:solidFill>
            <a:srgbClr val="192C48"/>
          </a:solidFill>
          <a:ln>
            <a:solidFill>
              <a:srgbClr val="FFB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74720" y="3200400"/>
            <a:ext cx="2194560" cy="27432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FFB15C"/>
                </a:solidFill>
                <a:latin typeface="Aptos"/>
              </a:rPr>
              <a:t>Feature pipeline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02152" y="3502152"/>
            <a:ext cx="2139696" cy="54864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ctr">
              <a:spcAft>
                <a:spcPts val="500"/>
              </a:spcAft>
            </a:pPr>
            <a:r>
              <a:rPr sz="900" b="0">
                <a:solidFill>
                  <a:srgbClr val="F5F8FC"/>
                </a:solidFill>
                <a:latin typeface="Aptos"/>
              </a:rPr>
              <a:t>Filter / derive / inspect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2423160"/>
            <a:ext cx="2057400" cy="1097280"/>
          </a:xfrm>
          <a:prstGeom prst="roundRect">
            <a:avLst/>
          </a:prstGeom>
          <a:solidFill>
            <a:srgbClr val="192C48"/>
          </a:solidFill>
          <a:ln>
            <a:solidFill>
              <a:srgbClr val="5BC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0" y="2468879"/>
            <a:ext cx="1965960" cy="27432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5BC0EB"/>
                </a:solidFill>
                <a:latin typeface="Aptos"/>
              </a:rPr>
              <a:t>Twin 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2770632"/>
            <a:ext cx="1911095" cy="731519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ctr">
              <a:spcAft>
                <a:spcPts val="500"/>
              </a:spcAft>
            </a:pPr>
            <a:r>
              <a:rPr sz="900" b="0">
                <a:solidFill>
                  <a:srgbClr val="F5F8FC"/>
                </a:solidFill>
                <a:latin typeface="Aptos"/>
              </a:rPr>
              <a:t>Maintain patient state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06840" y="1737360"/>
            <a:ext cx="2286000" cy="914400"/>
          </a:xfrm>
          <a:prstGeom prst="roundRect">
            <a:avLst/>
          </a:prstGeom>
          <a:solidFill>
            <a:srgbClr val="192C48"/>
          </a:solidFill>
          <a:ln>
            <a:solidFill>
              <a:srgbClr val="28D6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52560" y="1783080"/>
            <a:ext cx="2194560" cy="27432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28D6BE"/>
                </a:solidFill>
                <a:latin typeface="Aptos"/>
              </a:rPr>
              <a:t>ML predictor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79992" y="2084831"/>
            <a:ext cx="2139696" cy="54864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ctr">
              <a:spcAft>
                <a:spcPts val="500"/>
              </a:spcAft>
            </a:pPr>
            <a:r>
              <a:rPr sz="900" b="0">
                <a:solidFill>
                  <a:srgbClr val="F5F8FC"/>
                </a:solidFill>
                <a:latin typeface="Aptos"/>
              </a:rPr>
              <a:t>Clinical features today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06840" y="3154680"/>
            <a:ext cx="2286000" cy="914400"/>
          </a:xfrm>
          <a:prstGeom prst="roundRect">
            <a:avLst/>
          </a:prstGeom>
          <a:solidFill>
            <a:srgbClr val="192C48"/>
          </a:solidFill>
          <a:ln>
            <a:solidFill>
              <a:srgbClr val="5BC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052560" y="3200400"/>
            <a:ext cx="2194560" cy="27432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ctr">
              <a:spcAft>
                <a:spcPts val="500"/>
              </a:spcAft>
            </a:pPr>
            <a:r>
              <a:rPr sz="1100" b="1">
                <a:solidFill>
                  <a:srgbClr val="5BC0EB"/>
                </a:solidFill>
                <a:latin typeface="Aptos"/>
              </a:rPr>
              <a:t>Web dashboard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79992" y="3502152"/>
            <a:ext cx="2139696" cy="54864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ctr">
              <a:spcAft>
                <a:spcPts val="500"/>
              </a:spcAft>
            </a:pPr>
            <a:r>
              <a:rPr sz="900" b="0">
                <a:solidFill>
                  <a:srgbClr val="F5F8FC"/>
                </a:solidFill>
                <a:latin typeface="Aptos"/>
              </a:rPr>
              <a:t>State + output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07792" y="2057400"/>
            <a:ext cx="320040" cy="32004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ctr">
              <a:spcAft>
                <a:spcPts val="500"/>
              </a:spcAft>
            </a:pPr>
            <a:r>
              <a:rPr sz="1900" b="1">
                <a:solidFill>
                  <a:srgbClr val="28D6BE"/>
                </a:solidFill>
                <a:latin typeface="Aptos"/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07792" y="3474720"/>
            <a:ext cx="320040" cy="32004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ctr">
              <a:spcAft>
                <a:spcPts val="500"/>
              </a:spcAft>
            </a:pPr>
            <a:r>
              <a:rPr sz="1900" b="1">
                <a:solidFill>
                  <a:srgbClr val="28D6BE"/>
                </a:solidFill>
                <a:latin typeface="Aptos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06440" y="2057400"/>
            <a:ext cx="320040" cy="32004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ctr">
              <a:spcAft>
                <a:spcPts val="500"/>
              </a:spcAft>
            </a:pPr>
            <a:r>
              <a:rPr sz="1900" b="1">
                <a:solidFill>
                  <a:srgbClr val="28D6BE"/>
                </a:solidFill>
                <a:latin typeface="Aptos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06440" y="3474720"/>
            <a:ext cx="320040" cy="32004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ctr">
              <a:spcAft>
                <a:spcPts val="500"/>
              </a:spcAft>
            </a:pPr>
            <a:r>
              <a:rPr sz="1900" b="1">
                <a:solidFill>
                  <a:srgbClr val="28D6BE"/>
                </a:solidFill>
                <a:latin typeface="Aptos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200" y="2743200"/>
            <a:ext cx="320040" cy="32004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ctr">
              <a:spcAft>
                <a:spcPts val="500"/>
              </a:spcAft>
            </a:pPr>
            <a:r>
              <a:rPr sz="1900" b="1">
                <a:solidFill>
                  <a:srgbClr val="28D6BE"/>
                </a:solidFill>
                <a:latin typeface="Aptos"/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4754880"/>
            <a:ext cx="10515600" cy="59436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FFB15C"/>
                </a:solidFill>
                <a:latin typeface="Aptos"/>
              </a:rPr>
              <a:t>Current gap: physiological features are explored offline; they are not yet wired into the live predictor interface.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82880"/>
            <a:ext cx="10972800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28D6BE"/>
                </a:solidFill>
                <a:latin typeface="Aptos"/>
              </a:rPr>
              <a:t>06 • ML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972800" cy="50292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F5F8FC"/>
                </a:solidFill>
                <a:latin typeface="Aptos"/>
              </a:rPr>
              <a:t>Exploratory baseline modelling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42415"/>
            <a:ext cx="10972800" cy="38404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B1C0D3"/>
                </a:solidFill>
                <a:latin typeface="Aptos"/>
              </a:rPr>
              <a:t>A transparent baseline is preferable to overstating performance from a tiny subset.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92240"/>
            <a:ext cx="11155680" cy="13716"/>
          </a:xfrm>
          <a:prstGeom prst="rect">
            <a:avLst/>
          </a:prstGeom>
          <a:solidFill>
            <a:srgbClr val="324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6528816"/>
            <a:ext cx="10058400" cy="164592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>
                <a:solidFill>
                  <a:srgbClr val="B1C0D3"/>
                </a:solidFill>
                <a:latin typeface="Aptos"/>
              </a:rPr>
              <a:t>TWINPULSE • DIGITAL TWIN CHALLENGE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28816"/>
            <a:ext cx="411480" cy="164592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0">
                <a:solidFill>
                  <a:srgbClr val="B1C0D3"/>
                </a:solidFill>
                <a:latin typeface="Aptos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3429000" cy="1920240"/>
          </a:xfrm>
          <a:prstGeom prst="roundRect">
            <a:avLst/>
          </a:prstGeom>
          <a:solidFill>
            <a:srgbClr val="192C48"/>
          </a:solidFill>
          <a:ln>
            <a:solidFill>
              <a:srgbClr val="304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801368"/>
            <a:ext cx="45720" cy="1700784"/>
          </a:xfrm>
          <a:prstGeom prst="rect">
            <a:avLst/>
          </a:prstGeom>
          <a:solidFill>
            <a:srgbClr val="5BC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1" y="1819656"/>
            <a:ext cx="3154680" cy="29260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5BC0EB"/>
                </a:solidFill>
                <a:latin typeface="Aptos"/>
              </a:rPr>
              <a:t>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2194560"/>
            <a:ext cx="3136392" cy="1353312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F5F8FC"/>
                </a:solidFill>
                <a:latin typeface="Aptos"/>
              </a:rPr>
              <a:t>Logistic Regression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F5F8FC"/>
                </a:solidFill>
                <a:latin typeface="Aptos"/>
              </a:rPr>
              <a:t>Class-weighted baseline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F5F8FC"/>
                </a:solidFill>
                <a:latin typeface="Aptos"/>
              </a:rPr>
              <a:t>Seeded evaluation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691640"/>
            <a:ext cx="3429000" cy="1920240"/>
          </a:xfrm>
          <a:prstGeom prst="roundRect">
            <a:avLst/>
          </a:prstGeom>
          <a:solidFill>
            <a:srgbClr val="192C48"/>
          </a:solidFill>
          <a:ln>
            <a:solidFill>
              <a:srgbClr val="304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1801368"/>
            <a:ext cx="45720" cy="1700784"/>
          </a:xfrm>
          <a:prstGeom prst="rect">
            <a:avLst/>
          </a:prstGeom>
          <a:solidFill>
            <a:srgbClr val="28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53712" y="1819656"/>
            <a:ext cx="3154680" cy="29260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28D6BE"/>
                </a:solidFill>
                <a:latin typeface="Aptos"/>
              </a:rPr>
              <a:t>FEATURES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194560"/>
            <a:ext cx="3136392" cy="1353312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F5F8FC"/>
                </a:solidFill>
                <a:latin typeface="Aptos"/>
              </a:rPr>
              <a:t>Clinical: age, BMI, SBP, DBP, IMT, LVMI, EF, gender, smoker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F5F8FC"/>
                </a:solidFill>
                <a:latin typeface="Aptos"/>
              </a:rPr>
              <a:t>HRV extension evaluated offline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691640"/>
            <a:ext cx="3429000" cy="1920240"/>
          </a:xfrm>
          <a:prstGeom prst="roundRect">
            <a:avLst/>
          </a:prstGeom>
          <a:solidFill>
            <a:srgbClr val="192C48"/>
          </a:solidFill>
          <a:ln>
            <a:solidFill>
              <a:srgbClr val="304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38160" y="1801368"/>
            <a:ext cx="45720" cy="1700784"/>
          </a:xfrm>
          <a:prstGeom prst="rect">
            <a:avLst/>
          </a:prstGeom>
          <a:solidFill>
            <a:srgbClr val="FFB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02752" y="1819656"/>
            <a:ext cx="3154680" cy="29260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FFB15C"/>
                </a:solidFill>
                <a:latin typeface="Aptos"/>
              </a:rPr>
              <a:t>VALIDATION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2194560"/>
            <a:ext cx="3136392" cy="1353312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F5F8FC"/>
                </a:solidFill>
                <a:latin typeface="Aptos"/>
              </a:rPr>
              <a:t>4-fold stratified CV on 25-record subset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F5F8FC"/>
                </a:solidFill>
                <a:latin typeface="Aptos"/>
              </a:rPr>
              <a:t>Preprocessing within folds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F5F8FC"/>
                </a:solidFill>
                <a:latin typeface="Aptos"/>
              </a:rPr>
              <a:t>Small, imbalanced sample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023360"/>
            <a:ext cx="10789920" cy="82296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dirty="0">
                <a:solidFill>
                  <a:srgbClr val="F5F8FC"/>
                </a:solidFill>
                <a:latin typeface="Aptos"/>
              </a:rPr>
              <a:t>The current output is an exploratory score, not a calibrated clinical probability. Outcome and horizon definitions must follow verified dataset documentation.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82880"/>
            <a:ext cx="10972800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28D6BE"/>
                </a:solidFill>
                <a:latin typeface="Aptos"/>
              </a:rPr>
              <a:t>07 •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972800" cy="50292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F5F8FC"/>
                </a:solidFill>
                <a:latin typeface="Aptos"/>
              </a:rPr>
              <a:t>Results: no evidence of useful discrimination yet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42415"/>
            <a:ext cx="10972800" cy="38404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B1C0D3"/>
                </a:solidFill>
                <a:latin typeface="Aptos"/>
              </a:rPr>
              <a:t>4-fold stratified cross-validation on the current 25-record subset; preliminary research results.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92240"/>
            <a:ext cx="11155680" cy="13716"/>
          </a:xfrm>
          <a:prstGeom prst="rect">
            <a:avLst/>
          </a:prstGeom>
          <a:solidFill>
            <a:srgbClr val="324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6528816"/>
            <a:ext cx="10058400" cy="164592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>
                <a:solidFill>
                  <a:srgbClr val="B1C0D3"/>
                </a:solidFill>
                <a:latin typeface="Aptos"/>
              </a:rPr>
              <a:t>TWINPULSE • DIGITAL TWIN CHALLENGE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28816"/>
            <a:ext cx="411480" cy="164592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0">
                <a:solidFill>
                  <a:srgbClr val="B1C0D3"/>
                </a:solidFill>
                <a:latin typeface="Aptos"/>
              </a:rPr>
              <a:t>08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" y="1783080"/>
          <a:ext cx="1078992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514600"/>
                <a:gridCol w="2514600"/>
                <a:gridCol w="2560320"/>
              </a:tblGrid>
              <a:tr h="5143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8D6BE"/>
                          </a:solidFill>
                          <a:latin typeface="Aptos"/>
                        </a:rPr>
                        <a:t>Metric</a:t>
                      </a:r>
                    </a:p>
                  </a:txBody>
                  <a:tcPr marL="109728" marT="73152">
                    <a:solidFill>
                      <a:srgbClr val="1323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8D6BE"/>
                          </a:solidFill>
                          <a:latin typeface="Aptos"/>
                        </a:rPr>
                        <a:t>Clinical-only</a:t>
                      </a:r>
                    </a:p>
                  </a:txBody>
                  <a:tcPr marL="109728" marT="73152">
                    <a:solidFill>
                      <a:srgbClr val="1323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8D6BE"/>
                          </a:solidFill>
                          <a:latin typeface="Aptos"/>
                        </a:rPr>
                        <a:t>Clinical + HRV</a:t>
                      </a:r>
                    </a:p>
                  </a:txBody>
                  <a:tcPr marL="109728" marT="73152">
                    <a:solidFill>
                      <a:srgbClr val="1323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8D6BE"/>
                          </a:solidFill>
                          <a:latin typeface="Aptos"/>
                        </a:rPr>
                        <a:t>Interpretation</a:t>
                      </a:r>
                    </a:p>
                  </a:txBody>
                  <a:tcPr marL="109728" marT="73152">
                    <a:solidFill>
                      <a:srgbClr val="13233D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5F8FC"/>
                          </a:solidFill>
                          <a:latin typeface="Aptos"/>
                        </a:rPr>
                        <a:t>Precision</a:t>
                      </a:r>
                    </a:p>
                  </a:txBody>
                  <a:tcPr marL="109728" marT="73152">
                    <a:solidFill>
                      <a:srgbClr val="192C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5F8FC"/>
                          </a:solidFill>
                          <a:latin typeface="Aptos"/>
                        </a:rPr>
                        <a:t>0.6875</a:t>
                      </a:r>
                    </a:p>
                  </a:txBody>
                  <a:tcPr marL="109728" marT="73152">
                    <a:solidFill>
                      <a:srgbClr val="192C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5F8FC"/>
                          </a:solidFill>
                          <a:latin typeface="Aptos"/>
                        </a:rPr>
                        <a:t>0.6667</a:t>
                      </a:r>
                    </a:p>
                  </a:txBody>
                  <a:tcPr marL="109728" marT="73152">
                    <a:solidFill>
                      <a:srgbClr val="192C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5F8FC"/>
                          </a:solidFill>
                          <a:latin typeface="Aptos"/>
                        </a:rPr>
                        <a:t>Similar; subset-dependent</a:t>
                      </a:r>
                    </a:p>
                  </a:txBody>
                  <a:tcPr marL="109728" marT="73152">
                    <a:solidFill>
                      <a:srgbClr val="192C48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5F8FC"/>
                          </a:solidFill>
                          <a:latin typeface="Aptos"/>
                        </a:rPr>
                        <a:t>Recall</a:t>
                      </a:r>
                    </a:p>
                  </a:txBody>
                  <a:tcPr marL="109728" marT="73152">
                    <a:solidFill>
                      <a:srgbClr val="192C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5F8FC"/>
                          </a:solidFill>
                          <a:latin typeface="Aptos"/>
                        </a:rPr>
                        <a:t>0.6471</a:t>
                      </a:r>
                    </a:p>
                  </a:txBody>
                  <a:tcPr marL="109728" marT="73152">
                    <a:solidFill>
                      <a:srgbClr val="192C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5F8FC"/>
                          </a:solidFill>
                          <a:latin typeface="Aptos"/>
                        </a:rPr>
                        <a:t>0.5882</a:t>
                      </a:r>
                    </a:p>
                  </a:txBody>
                  <a:tcPr marL="109728" marT="73152">
                    <a:solidFill>
                      <a:srgbClr val="192C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5F8FC"/>
                          </a:solidFill>
                          <a:latin typeface="Aptos"/>
                        </a:rPr>
                        <a:t>Lower with HRV</a:t>
                      </a:r>
                    </a:p>
                  </a:txBody>
                  <a:tcPr marL="109728" marT="73152">
                    <a:solidFill>
                      <a:srgbClr val="192C48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5F8FC"/>
                          </a:solidFill>
                          <a:latin typeface="Aptos"/>
                        </a:rPr>
                        <a:t>ROC-AUC</a:t>
                      </a:r>
                    </a:p>
                  </a:txBody>
                  <a:tcPr marL="109728" marT="73152">
                    <a:solidFill>
                      <a:srgbClr val="192C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5F8FC"/>
                          </a:solidFill>
                          <a:latin typeface="Aptos"/>
                        </a:rPr>
                        <a:t>0.4118</a:t>
                      </a:r>
                    </a:p>
                  </a:txBody>
                  <a:tcPr marL="109728" marT="73152">
                    <a:solidFill>
                      <a:srgbClr val="192C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5F8FC"/>
                          </a:solidFill>
                          <a:latin typeface="Aptos"/>
                        </a:rPr>
                        <a:t>0.4191</a:t>
                      </a:r>
                    </a:p>
                  </a:txBody>
                  <a:tcPr marL="109728" marT="73152">
                    <a:solidFill>
                      <a:srgbClr val="192C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F5F8FC"/>
                          </a:solidFill>
                          <a:latin typeface="Aptos"/>
                        </a:rPr>
                        <a:t>Both below 0.5</a:t>
                      </a:r>
                    </a:p>
                  </a:txBody>
                  <a:tcPr marL="109728" marT="73152">
                    <a:solidFill>
                      <a:srgbClr val="192C4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22960" y="4251960"/>
            <a:ext cx="10515600" cy="9144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dirty="0">
                <a:solidFill>
                  <a:srgbClr val="FFB15C"/>
                </a:solidFill>
                <a:latin typeface="Aptos"/>
              </a:rPr>
              <a:t>Conclusion: HRV did not improve observed precision, recall, F1 or average precision in this run. The sample is too small to support reliable individual event prediction.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82880"/>
            <a:ext cx="10972800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28D6BE"/>
                </a:solidFill>
                <a:latin typeface="Aptos"/>
              </a:rPr>
              <a:t>08 • DASHBOARD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972800" cy="50292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F5F8FC"/>
                </a:solidFill>
                <a:latin typeface="Aptos"/>
              </a:rPr>
              <a:t>Patient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42415"/>
            <a:ext cx="10972800" cy="38404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B1C0D3"/>
                </a:solidFill>
                <a:latin typeface="Aptos"/>
              </a:rPr>
              <a:t>Actual app view: API connection, research warning, patient summary and exploratory model output.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92240"/>
            <a:ext cx="11155680" cy="13716"/>
          </a:xfrm>
          <a:prstGeom prst="rect">
            <a:avLst/>
          </a:prstGeom>
          <a:solidFill>
            <a:srgbClr val="324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6528816"/>
            <a:ext cx="10058400" cy="164592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>
                <a:solidFill>
                  <a:srgbClr val="B1C0D3"/>
                </a:solidFill>
                <a:latin typeface="Aptos"/>
              </a:rPr>
              <a:t>TWINPULSE • DIGITAL TWIN CHALLENGE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28816"/>
            <a:ext cx="411480" cy="164592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0">
                <a:solidFill>
                  <a:srgbClr val="B1C0D3"/>
                </a:solidFill>
                <a:latin typeface="Aptos"/>
              </a:rPr>
              <a:t>09</a:t>
            </a:r>
          </a:p>
        </p:txBody>
      </p:sp>
      <p:pic>
        <p:nvPicPr>
          <p:cNvPr id="8" name="Picture 7" descr="Screenshot 2026-10-20 0056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474" y="1481328"/>
            <a:ext cx="9958290" cy="455371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82880"/>
            <a:ext cx="10972800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28D6BE"/>
                </a:solidFill>
                <a:latin typeface="Aptos"/>
              </a:rPr>
              <a:t>08 • DASHBOARD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972800" cy="50292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F5F8FC"/>
                </a:solidFill>
                <a:latin typeface="Aptos"/>
              </a:rPr>
              <a:t>Clinical profile and simulated observations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42415"/>
            <a:ext cx="10972800" cy="38404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B1C0D3"/>
                </a:solidFill>
                <a:latin typeface="Aptos"/>
              </a:rPr>
              <a:t>The prototype accepts clinical values and lets the user add demonstration physiological observations.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92240"/>
            <a:ext cx="11155680" cy="13716"/>
          </a:xfrm>
          <a:prstGeom prst="rect">
            <a:avLst/>
          </a:prstGeom>
          <a:solidFill>
            <a:srgbClr val="324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6528816"/>
            <a:ext cx="10058400" cy="164592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>
                <a:solidFill>
                  <a:srgbClr val="B1C0D3"/>
                </a:solidFill>
                <a:latin typeface="Aptos"/>
              </a:rPr>
              <a:t>TWINPULSE • DIGITAL TWIN CHALLENGE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28816"/>
            <a:ext cx="411480" cy="164592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0">
                <a:solidFill>
                  <a:srgbClr val="B1C0D3"/>
                </a:solidFill>
                <a:latin typeface="Aptos"/>
              </a:rPr>
              <a:t>10</a:t>
            </a:r>
          </a:p>
        </p:txBody>
      </p:sp>
      <p:pic>
        <p:nvPicPr>
          <p:cNvPr id="8" name="Picture 7" descr="Screenshot 2026-10-20 0057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433" y="1481328"/>
            <a:ext cx="10002373" cy="455371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82880"/>
            <a:ext cx="10972800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28D6BE"/>
                </a:solidFill>
                <a:latin typeface="Aptos"/>
              </a:rPr>
              <a:t>08 • DASHBOARD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972800" cy="50292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F5F8FC"/>
                </a:solidFill>
                <a:latin typeface="Aptos"/>
              </a:rPr>
              <a:t>Patient state and activity history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42415"/>
            <a:ext cx="10972800" cy="38404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B1C0D3"/>
                </a:solidFill>
                <a:latin typeface="Aptos"/>
              </a:rPr>
              <a:t>Actual app view: twin version, clinical measurements, physiology source and recent state/prediction events.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92240"/>
            <a:ext cx="11155680" cy="13716"/>
          </a:xfrm>
          <a:prstGeom prst="rect">
            <a:avLst/>
          </a:prstGeom>
          <a:solidFill>
            <a:srgbClr val="324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6528816"/>
            <a:ext cx="10058400" cy="164592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>
                <a:solidFill>
                  <a:srgbClr val="B1C0D3"/>
                </a:solidFill>
                <a:latin typeface="Aptos"/>
              </a:rPr>
              <a:t>TWINPULSE • DIGITAL TWIN CHALLENGE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28816"/>
            <a:ext cx="411480" cy="164592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0">
                <a:solidFill>
                  <a:srgbClr val="B1C0D3"/>
                </a:solidFill>
                <a:latin typeface="Aptos"/>
              </a:rPr>
              <a:t>11</a:t>
            </a:r>
          </a:p>
        </p:txBody>
      </p:sp>
      <p:pic>
        <p:nvPicPr>
          <p:cNvPr id="8" name="Picture 7" descr="Screenshot 2026-10-20 0058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208" y="1481328"/>
            <a:ext cx="9990823" cy="455371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82880"/>
            <a:ext cx="10972800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28D6BE"/>
                </a:solidFill>
                <a:latin typeface="Aptos"/>
              </a:rPr>
              <a:t>09 • FINDINGS &amp;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972800" cy="50292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F5F8FC"/>
                </a:solidFill>
                <a:latin typeface="Aptos"/>
              </a:rPr>
              <a:t>What the prototype demonstrates—and what it does not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42415"/>
            <a:ext cx="10972800" cy="38404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B1C0D3"/>
                </a:solidFill>
                <a:latin typeface="Aptos"/>
              </a:rPr>
              <a:t>The contribution is a transparent research workflow with clearly stated gaps.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92240"/>
            <a:ext cx="11155680" cy="13716"/>
          </a:xfrm>
          <a:prstGeom prst="rect">
            <a:avLst/>
          </a:prstGeom>
          <a:solidFill>
            <a:srgbClr val="324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6528816"/>
            <a:ext cx="10058400" cy="164592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>
                <a:solidFill>
                  <a:srgbClr val="B1C0D3"/>
                </a:solidFill>
                <a:latin typeface="Aptos"/>
              </a:rPr>
              <a:t>TWINPULSE • DIGITAL TWIN CHALLENGE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28816"/>
            <a:ext cx="411480" cy="164592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0">
                <a:solidFill>
                  <a:srgbClr val="B1C0D3"/>
                </a:solidFill>
                <a:latin typeface="Aptos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3520440" cy="1645920"/>
          </a:xfrm>
          <a:prstGeom prst="roundRect">
            <a:avLst/>
          </a:prstGeom>
          <a:solidFill>
            <a:srgbClr val="192C48"/>
          </a:solidFill>
          <a:ln>
            <a:solidFill>
              <a:srgbClr val="304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1709928"/>
            <a:ext cx="45720" cy="1426464"/>
          </a:xfrm>
          <a:prstGeom prst="rect">
            <a:avLst/>
          </a:prstGeom>
          <a:solidFill>
            <a:srgbClr val="5BC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" y="1728216"/>
            <a:ext cx="3246120" cy="29260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5BC0EB"/>
                </a:solidFill>
                <a:latin typeface="Aptos"/>
              </a:rPr>
              <a:t>DEMONSTRATED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103120"/>
            <a:ext cx="3227832" cy="1078992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F5F8FC"/>
                </a:solidFill>
                <a:latin typeface="Aptos"/>
              </a:rPr>
              <a:t>API-connected dashboard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F5F8FC"/>
                </a:solidFill>
                <a:latin typeface="Aptos"/>
              </a:rPr>
              <a:t>Clinical profile and twin state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F5F8FC"/>
                </a:solidFill>
                <a:latin typeface="Aptos"/>
              </a:rPr>
              <a:t>State event history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600200"/>
            <a:ext cx="3520440" cy="1645920"/>
          </a:xfrm>
          <a:prstGeom prst="roundRect">
            <a:avLst/>
          </a:prstGeom>
          <a:solidFill>
            <a:srgbClr val="192C48"/>
          </a:solidFill>
          <a:ln>
            <a:solidFill>
              <a:srgbClr val="304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43400" y="1709928"/>
            <a:ext cx="45720" cy="1426464"/>
          </a:xfrm>
          <a:prstGeom prst="rect">
            <a:avLst/>
          </a:prstGeom>
          <a:solidFill>
            <a:srgbClr val="FFB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07992" y="1728216"/>
            <a:ext cx="3246120" cy="29260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FFB15C"/>
                </a:solidFill>
                <a:latin typeface="Aptos"/>
              </a:rPr>
              <a:t>NOT YET DEMONSTRATED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2103120"/>
            <a:ext cx="3227832" cy="1078992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F5F8FC"/>
                </a:solidFill>
                <a:latin typeface="Aptos"/>
              </a:rPr>
              <a:t>Live ECG replay into app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F5F8FC"/>
                </a:solidFill>
                <a:latin typeface="Aptos"/>
              </a:rPr>
              <a:t>Physiology affecting ML output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F5F8FC"/>
                </a:solidFill>
                <a:latin typeface="Aptos"/>
              </a:rPr>
              <a:t>Clinical-grade risk estimate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600200"/>
            <a:ext cx="3520440" cy="1645920"/>
          </a:xfrm>
          <a:prstGeom prst="roundRect">
            <a:avLst/>
          </a:prstGeom>
          <a:solidFill>
            <a:srgbClr val="192C48"/>
          </a:solidFill>
          <a:ln>
            <a:solidFill>
              <a:srgbClr val="304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92440" y="1709928"/>
            <a:ext cx="45720" cy="1426464"/>
          </a:xfrm>
          <a:prstGeom prst="rect">
            <a:avLst/>
          </a:prstGeom>
          <a:solidFill>
            <a:srgbClr val="28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57031" y="1728216"/>
            <a:ext cx="3246120" cy="29260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28D6BE"/>
                </a:solidFill>
                <a:latin typeface="Aptos"/>
              </a:rPr>
              <a:t>NEXT STEPS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7031" y="2103120"/>
            <a:ext cx="3227832" cy="1078992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F5F8FC"/>
                </a:solidFill>
                <a:latin typeface="Aptos"/>
              </a:rPr>
              <a:t>Review signal quality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F5F8FC"/>
                </a:solidFill>
                <a:latin typeface="Aptos"/>
              </a:rPr>
              <a:t>Connect validated features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F5F8FC"/>
                </a:solidFill>
                <a:latin typeface="Aptos"/>
              </a:rPr>
              <a:t>Patient-level evaluation and expert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703320"/>
            <a:ext cx="10881360" cy="123444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F5F8FC"/>
                </a:solidFill>
                <a:latin typeface="Aptos"/>
              </a:rPr>
              <a:t>Research limitations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F5F8FC"/>
                </a:solidFill>
                <a:latin typeface="Aptos"/>
              </a:rPr>
              <a:t>• Only 25 ECG signal files are available in the current local subset.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F5F8FC"/>
                </a:solidFill>
                <a:latin typeface="Aptos"/>
              </a:rPr>
              <a:t>• Automated QRS annotations and suspicious RR intervals need quality review.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F5F8FC"/>
                </a:solidFill>
                <a:latin typeface="Aptos"/>
              </a:rPr>
              <a:t>• Small, imbalanced data limits reliability and generalization.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F5F8FC"/>
                </a:solidFill>
                <a:latin typeface="Aptos"/>
              </a:rPr>
              <a:t>• The exploratory score is not calibrated; the system is not clinically validated.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257800"/>
            <a:ext cx="10515600" cy="50292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FFB15C"/>
                </a:solidFill>
                <a:latin typeface="Aptos"/>
              </a:rPr>
              <a:t>TwinPulse is an educational/research prototype—not for diagnosis, treatment, or clinical decisions.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6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82880"/>
            <a:ext cx="10972800" cy="22860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28D6BE"/>
                </a:solidFill>
                <a:latin typeface="Aptos"/>
              </a:rPr>
              <a:t>10 • 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972800" cy="50292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F5F8FC"/>
                </a:solidFill>
                <a:latin typeface="Aptos"/>
              </a:rPr>
              <a:t>TwinPulse: build the twin, validate the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042415"/>
            <a:ext cx="10972800" cy="38404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B1C0D3"/>
                </a:solidFill>
                <a:latin typeface="Aptos"/>
              </a:rPr>
              <a:t>A research proof of concept for dynamic patient-state representation in hypertension.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92240"/>
            <a:ext cx="11155680" cy="13716"/>
          </a:xfrm>
          <a:prstGeom prst="rect">
            <a:avLst/>
          </a:prstGeom>
          <a:solidFill>
            <a:srgbClr val="324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0352" y="6528816"/>
            <a:ext cx="10058400" cy="164592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l">
              <a:spcAft>
                <a:spcPts val="500"/>
              </a:spcAft>
            </a:pPr>
            <a:r>
              <a:rPr sz="800" b="0">
                <a:solidFill>
                  <a:srgbClr val="B1C0D3"/>
                </a:solidFill>
                <a:latin typeface="Aptos"/>
              </a:rPr>
              <a:t>TWINPULSE • DIGITAL TWIN CHALLENGE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28816"/>
            <a:ext cx="411480" cy="164592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0">
                <a:solidFill>
                  <a:srgbClr val="B1C0D3"/>
                </a:solidFill>
                <a:latin typeface="Aptos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5029200" cy="150876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 dirty="0">
                <a:solidFill>
                  <a:srgbClr val="F5F8FC"/>
                </a:solidFill>
                <a:latin typeface="Aptos"/>
              </a:rPr>
              <a:t>Key </a:t>
            </a:r>
            <a:r>
              <a:rPr sz="1800" b="1" dirty="0" smtClean="0">
                <a:solidFill>
                  <a:srgbClr val="F5F8FC"/>
                </a:solidFill>
                <a:latin typeface="Aptos"/>
              </a:rPr>
              <a:t>takeaway</a:t>
            </a:r>
            <a:endParaRPr sz="1800" b="1" dirty="0">
              <a:solidFill>
                <a:srgbClr val="F5F8FC"/>
              </a:solidFill>
              <a:latin typeface="Aptos"/>
            </a:endParaRPr>
          </a:p>
          <a:p>
            <a:pPr algn="l">
              <a:spcAft>
                <a:spcPts val="500"/>
              </a:spcAft>
            </a:pPr>
            <a:r>
              <a:rPr sz="1800" b="1" dirty="0">
                <a:solidFill>
                  <a:srgbClr val="F5F8FC"/>
                </a:solidFill>
                <a:latin typeface="Aptos"/>
              </a:rPr>
              <a:t>A Digital Twin needs maintained patient state, traceable inputs, and validated links between observations and model outputs.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737360"/>
            <a:ext cx="5166360" cy="2148840"/>
          </a:xfrm>
          <a:prstGeom prst="roundRect">
            <a:avLst/>
          </a:prstGeom>
          <a:solidFill>
            <a:srgbClr val="192C48"/>
          </a:solidFill>
          <a:ln>
            <a:solidFill>
              <a:srgbClr val="304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80760" y="1847088"/>
            <a:ext cx="45720" cy="1929384"/>
          </a:xfrm>
          <a:prstGeom prst="rect">
            <a:avLst/>
          </a:prstGeom>
          <a:solidFill>
            <a:srgbClr val="28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45352" y="1865376"/>
            <a:ext cx="4892040" cy="292608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dirty="0" smtClean="0">
                <a:solidFill>
                  <a:srgbClr val="28D6BE"/>
                </a:solidFill>
                <a:latin typeface="Aptos"/>
              </a:rPr>
              <a:t>TEAM TWINPULSE</a:t>
            </a:r>
            <a:endParaRPr sz="1400" b="1" dirty="0">
              <a:solidFill>
                <a:srgbClr val="28D6BE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245352" y="2240280"/>
            <a:ext cx="4873752" cy="94077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>
              <a:spcAft>
                <a:spcPts val="500"/>
              </a:spcAft>
            </a:pPr>
            <a:r>
              <a:rPr lang="en-US" sz="1600" b="1" dirty="0" err="1" smtClean="0">
                <a:solidFill>
                  <a:schemeClr val="bg1"/>
                </a:solidFill>
                <a:latin typeface="Aptos"/>
              </a:rPr>
              <a:t>GitHub</a:t>
            </a:r>
            <a:r>
              <a:rPr lang="en-US" sz="1600" b="1" dirty="0" smtClean="0">
                <a:solidFill>
                  <a:schemeClr val="bg1"/>
                </a:solidFill>
                <a:latin typeface="Aptos"/>
              </a:rPr>
              <a:t>: </a:t>
            </a:r>
            <a:endParaRPr lang="en-US" sz="1600" b="1" dirty="0" smtClean="0">
              <a:solidFill>
                <a:schemeClr val="bg1"/>
              </a:solidFill>
              <a:latin typeface="Aptos"/>
            </a:endParaRPr>
          </a:p>
          <a:p>
            <a:pPr>
              <a:spcAft>
                <a:spcPts val="500"/>
              </a:spcAft>
            </a:pPr>
            <a:endParaRPr lang="en-US" sz="1600" b="1" dirty="0" smtClean="0">
              <a:solidFill>
                <a:schemeClr val="bg1"/>
              </a:solidFill>
              <a:latin typeface="Aptos"/>
            </a:endParaRPr>
          </a:p>
          <a:p>
            <a:pPr>
              <a:spcAft>
                <a:spcPts val="500"/>
              </a:spcAft>
            </a:pPr>
            <a:r>
              <a:rPr lang="en-US" sz="1600" b="1" dirty="0" smtClean="0">
                <a:solidFill>
                  <a:schemeClr val="bg1"/>
                </a:solidFill>
                <a:latin typeface="Aptos"/>
              </a:rPr>
              <a:t>https</a:t>
            </a:r>
            <a:r>
              <a:rPr lang="en-US" sz="1600" b="1" dirty="0" smtClean="0">
                <a:solidFill>
                  <a:schemeClr val="bg1"/>
                </a:solidFill>
                <a:latin typeface="Aptos"/>
              </a:rPr>
              <a:t>://github.com/AlmasBanu1/TwinPulse</a:t>
            </a:r>
            <a:endParaRPr lang="en-US" sz="1600" b="1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5120640"/>
            <a:ext cx="10515600" cy="640080"/>
          </a:xfrm>
          <a:prstGeom prst="rect">
            <a:avLst/>
          </a:prstGeom>
          <a:noFill/>
        </p:spPr>
        <p:txBody>
          <a:bodyPr wrap="square" lIns="54864" tIns="27432" rIns="54864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FFB15C"/>
                </a:solidFill>
                <a:latin typeface="Aptos"/>
              </a:rPr>
              <a:t>Thank you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FFB15C"/>
                </a:solidFill>
                <a:latin typeface="Aptos"/>
              </a:rPr>
              <a:t>Research prototype only. Not for diagnosis, treatment, or clinical decisions.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</TotalTime>
  <Words>1017</Words>
  <Application>Microsoft Office PowerPoint</Application>
  <PresentationFormat>Custom</PresentationFormat>
  <Paragraphs>208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TwinPulse — Digital Twin Challenge 2026</dc:title>
  <dc:subject>Digital Twin Challenge presentation</dc:subject>
  <dc:creator>TwinPulse Team</dc:creator>
  <dc:description>generated using python-pptx</dc:description>
  <cp:lastModifiedBy>hp</cp:lastModifiedBy>
  <cp:revision>9</cp:revision>
  <dcterms:created xsi:type="dcterms:W3CDTF">2013-01-27T09:14:16Z</dcterms:created>
  <dcterms:modified xsi:type="dcterms:W3CDTF">2026-10-20T12:13:25Z</dcterms:modified>
</cp:coreProperties>
</file>